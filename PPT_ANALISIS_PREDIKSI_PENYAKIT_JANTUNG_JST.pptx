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6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4007957" cy="19697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750"/>
                </a:solidFill>
              </a:defRPr>
            </a:pPr>
            <a:r>
              <a:rPr dirty="0"/>
              <a:t>ANALISIS PREDIKSI</a:t>
            </a:r>
            <a:br>
              <a:rPr dirty="0"/>
            </a:br>
            <a:r>
              <a:rPr dirty="0"/>
              <a:t>PENYAKIT JANTUNG</a:t>
            </a:r>
            <a:endParaRPr lang="en-US" dirty="0"/>
          </a:p>
          <a:p>
            <a:pPr>
              <a:defRPr sz="3600" b="1">
                <a:solidFill>
                  <a:srgbClr val="1F3750"/>
                </a:solidFill>
              </a:defRPr>
            </a:pPr>
            <a:r>
              <a:rPr lang="en-ID" sz="1400" dirty="0"/>
              <a:t>Dataset </a:t>
            </a:r>
            <a:r>
              <a:rPr lang="en-ID" sz="1400" dirty="0" err="1"/>
              <a:t>publik</a:t>
            </a:r>
            <a:r>
              <a:rPr lang="en-ID" sz="1400" dirty="0"/>
              <a:t> UCI Heart Disease</a:t>
            </a:r>
          </a:p>
          <a:p>
            <a:pPr>
              <a:defRPr sz="3600" b="1">
                <a:solidFill>
                  <a:srgbClr val="1F3750"/>
                </a:solidFill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5801716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366991"/>
                </a:solidFill>
              </a:defRPr>
            </a:pPr>
            <a:r>
              <a:rPr dirty="0"/>
              <a:t>Mata </a:t>
            </a:r>
            <a:r>
              <a:rPr dirty="0" err="1"/>
              <a:t>Kuliah</a:t>
            </a:r>
            <a:r>
              <a:rPr dirty="0"/>
              <a:t> </a:t>
            </a:r>
            <a:r>
              <a:rPr dirty="0" err="1"/>
              <a:t>Jaringan</a:t>
            </a:r>
            <a:r>
              <a:rPr dirty="0"/>
              <a:t> </a:t>
            </a:r>
            <a:r>
              <a:rPr dirty="0" err="1"/>
              <a:t>Syaraf</a:t>
            </a:r>
            <a:r>
              <a:rPr dirty="0"/>
              <a:t> </a:t>
            </a:r>
            <a:r>
              <a:rPr dirty="0" err="1"/>
              <a:t>Tiruan</a:t>
            </a:r>
            <a:endParaRPr lang="en-US" dirty="0"/>
          </a:p>
          <a:p>
            <a:pPr>
              <a:defRPr sz="1900">
                <a:solidFill>
                  <a:srgbClr val="366991"/>
                </a:solidFill>
              </a:defRPr>
            </a:pPr>
            <a:r>
              <a:rPr lang="en-ID" dirty="0"/>
              <a:t>Dosen </a:t>
            </a:r>
            <a:r>
              <a:rPr lang="en-ID" dirty="0" err="1"/>
              <a:t>Pengampu</a:t>
            </a:r>
            <a:r>
              <a:rPr lang="en-ID" dirty="0"/>
              <a:t> : </a:t>
            </a:r>
            <a:r>
              <a:rPr lang="en-ID" sz="1900" dirty="0" err="1">
                <a:solidFill>
                  <a:srgbClr val="366991"/>
                </a:solidFill>
              </a:rPr>
              <a:t>Matahari</a:t>
            </a:r>
            <a:r>
              <a:rPr lang="en-ID" sz="1900" dirty="0">
                <a:solidFill>
                  <a:srgbClr val="366991"/>
                </a:solidFill>
              </a:rPr>
              <a:t> Bhakti </a:t>
            </a:r>
            <a:r>
              <a:rPr lang="en-ID" sz="1900" dirty="0" err="1">
                <a:solidFill>
                  <a:srgbClr val="366991"/>
                </a:solidFill>
              </a:rPr>
              <a:t>Nendya</a:t>
            </a:r>
            <a:r>
              <a:rPr lang="en-ID" sz="1900" dirty="0">
                <a:solidFill>
                  <a:srgbClr val="366991"/>
                </a:solidFill>
              </a:rPr>
              <a:t>, </a:t>
            </a:r>
            <a:r>
              <a:rPr lang="en-ID" sz="1900" dirty="0" err="1">
                <a:solidFill>
                  <a:srgbClr val="366991"/>
                </a:solidFill>
              </a:rPr>
              <a:t>S.Kom</a:t>
            </a:r>
            <a:r>
              <a:rPr lang="en-ID" sz="1900" dirty="0">
                <a:solidFill>
                  <a:srgbClr val="366991"/>
                </a:solidFill>
              </a:rPr>
              <a:t>., M.T,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</a:defRPr>
            </a:pPr>
            <a:r>
              <a:t>1. Masalah dan Tujuan Analisis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A30"/>
                </a:solidFill>
              </a:defRPr>
            </a:pPr>
            <a:r>
              <a:t>Masalah yang dibahas adalah bagaimana data pemeriksaan pasien dapat digunakan untuk memperkirakan adanya penyakit jantung.</a:t>
            </a:r>
          </a:p>
          <a:p>
            <a:pPr>
              <a:spcAft>
                <a:spcPts val="1200"/>
              </a:spcAft>
              <a:defRPr sz="2000">
                <a:solidFill>
                  <a:srgbClr val="232A30"/>
                </a:solidFill>
              </a:defRPr>
            </a:pPr>
            <a:r>
              <a:t>Tujuannya adalah membuat model JST yang dapat mempelajari pola dari beberapa data pemeriksaan pasien.</a:t>
            </a:r>
          </a:p>
          <a:p>
            <a:pPr>
              <a:spcAft>
                <a:spcPts val="1200"/>
              </a:spcAft>
              <a:defRPr sz="2000">
                <a:solidFill>
                  <a:srgbClr val="232A30"/>
                </a:solidFill>
              </a:defRPr>
            </a:pPr>
            <a:r>
              <a:t>Hasil akhirnya berupa dua kelas, yaitu tidak terindikasi dan terindikasi penyakit jantung.</a:t>
            </a:r>
          </a:p>
          <a:p>
            <a:pPr>
              <a:spcAft>
                <a:spcPts val="1200"/>
              </a:spcAft>
              <a:defRPr sz="2000">
                <a:solidFill>
                  <a:srgbClr val="232A30"/>
                </a:solidFill>
              </a:defRPr>
            </a:pPr>
            <a:r>
              <a:t>Analisis ini digunakan untuk pembelajaran dan pengujian model, bukan sebagai pengganti diagnosis dokter.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4892040"/>
            <a:ext cx="3383280" cy="822960"/>
          </a:xfrm>
          <a:prstGeom prst="roundRect">
            <a:avLst/>
          </a:prstGeom>
          <a:solidFill>
            <a:srgbClr val="F2F6F9"/>
          </a:solidFill>
          <a:ln>
            <a:solidFill>
              <a:srgbClr val="36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750"/>
                </a:solidFill>
              </a:defRPr>
            </a:pPr>
            <a:r>
              <a:t>Data pemeriksaan  →  JST  →  Hasil 0 atau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</a:defRPr>
            </a:pPr>
            <a:r>
              <a:t>2. Sumber dan Struktur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A30"/>
                </a:solidFill>
              </a:defRPr>
            </a:pPr>
            <a:r>
              <a:rPr dirty="0" err="1"/>
              <a:t>Sumber</a:t>
            </a:r>
            <a:r>
              <a:rPr dirty="0"/>
              <a:t>: UCI Machine Learning Repository, Heart Disease Dataset (Cleveland).</a:t>
            </a:r>
            <a:endParaRPr lang="en-US" dirty="0"/>
          </a:p>
          <a:p>
            <a:pPr>
              <a:spcAft>
                <a:spcPts val="1200"/>
              </a:spcAft>
              <a:defRPr sz="1800">
                <a:solidFill>
                  <a:srgbClr val="232A30"/>
                </a:solidFill>
              </a:defRPr>
            </a:pPr>
            <a:r>
              <a:rPr lang="en-ID" dirty="0"/>
              <a:t>Link </a:t>
            </a:r>
            <a:r>
              <a:rPr lang="en-ID" dirty="0" err="1"/>
              <a:t>sumber</a:t>
            </a:r>
            <a:r>
              <a:rPr lang="en-ID" dirty="0"/>
              <a:t> : https://www.kaggle.com/datasets/aavigan/cleveland-clinic-heart-disease-dataset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232A30"/>
                </a:solidFill>
              </a:defRPr>
            </a:pPr>
            <a:r>
              <a:rPr dirty="0"/>
              <a:t>Dataset Cleveland yang </a:t>
            </a:r>
            <a:r>
              <a:rPr dirty="0" err="1"/>
              <a:t>umum</a:t>
            </a:r>
            <a:r>
              <a:rPr dirty="0"/>
              <a:t> </a:t>
            </a:r>
            <a:r>
              <a:rPr dirty="0" err="1"/>
              <a:t>digunakan</a:t>
            </a:r>
            <a:r>
              <a:rPr dirty="0"/>
              <a:t> </a:t>
            </a:r>
            <a:r>
              <a:rPr dirty="0" err="1"/>
              <a:t>berisi</a:t>
            </a:r>
            <a:r>
              <a:rPr dirty="0"/>
              <a:t> 303 data </a:t>
            </a:r>
            <a:r>
              <a:rPr dirty="0" err="1"/>
              <a:t>pasien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13 </a:t>
            </a:r>
            <a:r>
              <a:rPr dirty="0" err="1"/>
              <a:t>fitur</a:t>
            </a:r>
            <a:r>
              <a:rPr dirty="0"/>
              <a:t> </a:t>
            </a:r>
            <a:r>
              <a:rPr dirty="0" err="1"/>
              <a:t>utama</a:t>
            </a:r>
            <a:r>
              <a:rPr dirty="0"/>
              <a:t> dan </a:t>
            </a:r>
            <a:r>
              <a:rPr dirty="0" err="1"/>
              <a:t>satu</a:t>
            </a:r>
            <a:r>
              <a:rPr dirty="0"/>
              <a:t> target.</a:t>
            </a:r>
          </a:p>
          <a:p>
            <a:pPr>
              <a:spcAft>
                <a:spcPts val="1200"/>
              </a:spcAft>
              <a:defRPr sz="1800">
                <a:solidFill>
                  <a:srgbClr val="232A30"/>
                </a:solidFill>
              </a:defRPr>
            </a:pPr>
            <a:r>
              <a:rPr dirty="0" err="1"/>
              <a:t>Contoh</a:t>
            </a:r>
            <a:r>
              <a:rPr dirty="0"/>
              <a:t> </a:t>
            </a:r>
            <a:r>
              <a:rPr dirty="0" err="1"/>
              <a:t>fitur</a:t>
            </a:r>
            <a:r>
              <a:rPr dirty="0"/>
              <a:t>: age, sex, chest pain type, resting blood pressure, cholesterol, maximum heart rate, exercise-induced angina, dan </a:t>
            </a:r>
            <a:r>
              <a:rPr dirty="0" err="1"/>
              <a:t>beberapa</a:t>
            </a:r>
            <a:r>
              <a:rPr dirty="0"/>
              <a:t> </a:t>
            </a:r>
            <a:r>
              <a:rPr dirty="0" err="1"/>
              <a:t>hasil</a:t>
            </a:r>
            <a:r>
              <a:rPr dirty="0"/>
              <a:t> </a:t>
            </a:r>
            <a:r>
              <a:rPr dirty="0" err="1"/>
              <a:t>pemeriksaan</a:t>
            </a:r>
            <a:r>
              <a:rPr dirty="0"/>
              <a:t> </a:t>
            </a:r>
            <a:r>
              <a:rPr dirty="0" err="1"/>
              <a:t>jantung</a:t>
            </a:r>
            <a:r>
              <a:rPr dirty="0"/>
              <a:t>.</a:t>
            </a:r>
          </a:p>
          <a:p>
            <a:pPr>
              <a:spcAft>
                <a:spcPts val="1200"/>
              </a:spcAft>
              <a:defRPr sz="1800">
                <a:solidFill>
                  <a:srgbClr val="232A30"/>
                </a:solidFill>
              </a:defRPr>
            </a:pPr>
            <a:r>
              <a:rPr dirty="0"/>
              <a:t>Target (y): </a:t>
            </a:r>
            <a:r>
              <a:rPr dirty="0" err="1"/>
              <a:t>kondisi</a:t>
            </a:r>
            <a:r>
              <a:rPr dirty="0"/>
              <a:t> </a:t>
            </a:r>
            <a:r>
              <a:rPr dirty="0" err="1"/>
              <a:t>penyakit</a:t>
            </a:r>
            <a:r>
              <a:rPr dirty="0"/>
              <a:t> </a:t>
            </a:r>
            <a:r>
              <a:rPr dirty="0" err="1"/>
              <a:t>jantung</a:t>
            </a:r>
            <a:r>
              <a:rPr dirty="0"/>
              <a:t>.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klasifikasi</a:t>
            </a:r>
            <a:r>
              <a:rPr dirty="0"/>
              <a:t> biner, target </a:t>
            </a:r>
            <a:r>
              <a:rPr dirty="0" err="1"/>
              <a:t>dapat</a:t>
            </a:r>
            <a:r>
              <a:rPr dirty="0"/>
              <a:t> </a:t>
            </a:r>
            <a:r>
              <a:rPr dirty="0" err="1"/>
              <a:t>dipetakan</a:t>
            </a:r>
            <a:r>
              <a:rPr dirty="0"/>
              <a:t> </a:t>
            </a:r>
            <a:r>
              <a:rPr dirty="0" err="1"/>
              <a:t>menjadi</a:t>
            </a:r>
            <a:r>
              <a:rPr dirty="0"/>
              <a:t> 0 =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ada</a:t>
            </a:r>
            <a:r>
              <a:rPr dirty="0"/>
              <a:t> dan 1 = </a:t>
            </a:r>
            <a:r>
              <a:rPr dirty="0" err="1"/>
              <a:t>ada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71500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Sumber: UCI Machine Learning Repository, Heart Disease Dataset.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</a:defRPr>
            </a:pPr>
            <a:r>
              <a:t>3. Input Feature (X) dan Target (y)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383280" cy="1143000"/>
          </a:xfrm>
          <a:prstGeom prst="roundRect">
            <a:avLst/>
          </a:prstGeom>
          <a:solidFill>
            <a:srgbClr val="F2F6F9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F3750"/>
                </a:solidFill>
              </a:defRPr>
            </a:pPr>
            <a:r>
              <a:t>Demografi</a:t>
            </a:r>
          </a:p>
          <a:p>
            <a:pPr>
              <a:defRPr sz="1300">
                <a:solidFill>
                  <a:srgbClr val="69737D"/>
                </a:solidFill>
              </a:defRPr>
            </a:pPr>
            <a:r>
              <a:t>age, sex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417320"/>
            <a:ext cx="3383280" cy="1143000"/>
          </a:xfrm>
          <a:prstGeom prst="roundRect">
            <a:avLst/>
          </a:prstGeom>
          <a:solidFill>
            <a:srgbClr val="F2F6F9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F3750"/>
                </a:solidFill>
              </a:defRPr>
            </a:pPr>
            <a:r>
              <a:t>Gejala</a:t>
            </a:r>
          </a:p>
          <a:p>
            <a:pPr>
              <a:defRPr sz="1300">
                <a:solidFill>
                  <a:srgbClr val="69737D"/>
                </a:solidFill>
              </a:defRPr>
            </a:pPr>
            <a:r>
              <a:t>chest pain 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417320"/>
            <a:ext cx="3383280" cy="1143000"/>
          </a:xfrm>
          <a:prstGeom prst="roundRect">
            <a:avLst/>
          </a:prstGeom>
          <a:solidFill>
            <a:srgbClr val="F2F6F9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F3750"/>
                </a:solidFill>
              </a:defRPr>
            </a:pPr>
            <a:r>
              <a:t>Tekanan &amp; darah</a:t>
            </a:r>
          </a:p>
          <a:p>
            <a:pPr>
              <a:defRPr sz="1300">
                <a:solidFill>
                  <a:srgbClr val="69737D"/>
                </a:solidFill>
              </a:defRPr>
            </a:pPr>
            <a:r>
              <a:t>resting BP, cholesterol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26080"/>
            <a:ext cx="3383280" cy="1143000"/>
          </a:xfrm>
          <a:prstGeom prst="roundRect">
            <a:avLst/>
          </a:prstGeom>
          <a:solidFill>
            <a:srgbClr val="F2F6F9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F3750"/>
                </a:solidFill>
              </a:defRPr>
            </a:pPr>
            <a:r>
              <a:t>Aktivitas jantung</a:t>
            </a:r>
          </a:p>
          <a:p>
            <a:pPr>
              <a:defRPr sz="1300">
                <a:solidFill>
                  <a:srgbClr val="69737D"/>
                </a:solidFill>
              </a:defRPr>
            </a:pPr>
            <a:r>
              <a:t>max heart rate, exercise angina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926080"/>
            <a:ext cx="3383280" cy="1143000"/>
          </a:xfrm>
          <a:prstGeom prst="roundRect">
            <a:avLst/>
          </a:prstGeom>
          <a:solidFill>
            <a:srgbClr val="F2F6F9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F3750"/>
                </a:solidFill>
              </a:defRPr>
            </a:pPr>
            <a:r>
              <a:t>Pemeriksaan</a:t>
            </a:r>
          </a:p>
          <a:p>
            <a:pPr>
              <a:defRPr sz="1300">
                <a:solidFill>
                  <a:srgbClr val="69737D"/>
                </a:solidFill>
              </a:defRPr>
            </a:pPr>
            <a:r>
              <a:t>oldpeak, ST slope, dll.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4709160"/>
            <a:ext cx="4434840" cy="1051560"/>
          </a:xfrm>
          <a:prstGeom prst="roundRect">
            <a:avLst/>
          </a:prstGeom>
          <a:solidFill>
            <a:srgbClr val="E8F2EE"/>
          </a:solidFill>
          <a:ln>
            <a:solidFill>
              <a:srgbClr val="448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448268"/>
                </a:solidFill>
              </a:defRPr>
            </a:pPr>
            <a:r>
              <a:t>Target (y): kondisi penyakit jantung</a:t>
            </a:r>
          </a:p>
          <a:p>
            <a:pPr>
              <a:defRPr sz="1400">
                <a:solidFill>
                  <a:srgbClr val="232A30"/>
                </a:solidFill>
              </a:defRPr>
            </a:pPr>
            <a:r>
              <a:t>0 = tidak terindikasi, 1 = terindikasi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</a:defRPr>
            </a:pPr>
            <a:r>
              <a:t>4–5. Metode JST dan Skema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A30"/>
                </a:solidFill>
              </a:defRPr>
            </a:pPr>
            <a:r>
              <a:t>Metode yang dipilih adalah supervised learning karena setiap data sudah memiliki target yang ingin dipelajari oleh model.</a:t>
            </a:r>
          </a:p>
          <a:p>
            <a:pPr>
              <a:spcAft>
                <a:spcPts val="1200"/>
              </a:spcAft>
              <a:defRPr sz="1700">
                <a:solidFill>
                  <a:srgbClr val="232A30"/>
                </a:solidFill>
              </a:defRPr>
            </a:pPr>
            <a:r>
              <a:t>Model konseptual: Fitur input → hidden layer → output sigmoid → kelas 0 atau 1.</a:t>
            </a:r>
          </a:p>
          <a:p>
            <a:pPr>
              <a:spcAft>
                <a:spcPts val="1200"/>
              </a:spcAft>
              <a:defRPr sz="1700">
                <a:solidFill>
                  <a:srgbClr val="232A30"/>
                </a:solidFill>
              </a:defRPr>
            </a:pPr>
            <a:r>
              <a:t>Pembagian data: contoh 80% untuk data training dan 20% untuk data testing. Jika memungkinkan, gunakan stratified split agar proporsi kelas tetap seimbang.</a:t>
            </a:r>
          </a:p>
          <a:p>
            <a:pPr>
              <a:spcAft>
                <a:spcPts val="1200"/>
              </a:spcAft>
              <a:defRPr sz="1700">
                <a:solidFill>
                  <a:srgbClr val="232A30"/>
                </a:solidFill>
              </a:defRPr>
            </a:pPr>
            <a:r>
              <a:t>Saat training, data diproses dalam beberapa batch. Setelah itu bobot jaringan diperbarui menggunakan backpropagation. Satu epoch berarti seluruh data training sudah diproses satu kali.</a:t>
            </a:r>
          </a:p>
          <a:p>
            <a:pPr>
              <a:spcAft>
                <a:spcPts val="1200"/>
              </a:spcAft>
              <a:defRPr sz="1700">
                <a:solidFill>
                  <a:srgbClr val="232A30"/>
                </a:solidFill>
              </a:defRPr>
            </a:pPr>
            <a:r>
              <a:t>Contoh konseptual hyperparameter: batch size 16 atau 32 dan sekitar 50 sampai 100 epoch, dengan early stopping untuk mengurangi risiko overfitting.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257800"/>
            <a:ext cx="1828800" cy="640080"/>
          </a:xfrm>
          <a:prstGeom prst="roundRect">
            <a:avLst/>
          </a:prstGeom>
          <a:solidFill>
            <a:srgbClr val="F2F6F9"/>
          </a:solidFill>
          <a:ln>
            <a:solidFill>
              <a:srgbClr val="36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750"/>
                </a:solidFill>
              </a:defRPr>
            </a:pPr>
            <a:r>
              <a:t>X</a:t>
            </a:r>
            <a:br/>
            <a:r>
              <a:t>13 fitur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60320" y="5577840"/>
            <a:ext cx="1097280" cy="0"/>
          </a:xfrm>
          <a:prstGeom prst="line">
            <a:avLst/>
          </a:prstGeom>
          <a:ln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657600" y="5257800"/>
            <a:ext cx="1828800" cy="640080"/>
          </a:xfrm>
          <a:prstGeom prst="roundRect">
            <a:avLst/>
          </a:prstGeom>
          <a:solidFill>
            <a:srgbClr val="F2F6F9"/>
          </a:solidFill>
          <a:ln>
            <a:solidFill>
              <a:srgbClr val="36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750"/>
                </a:solidFill>
              </a:defRPr>
            </a:pPr>
            <a:r>
              <a:t>Hidden</a:t>
            </a:r>
            <a:br/>
            <a:r>
              <a:t>layer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0" y="5577840"/>
            <a:ext cx="1097280" cy="0"/>
          </a:xfrm>
          <a:prstGeom prst="line">
            <a:avLst/>
          </a:prstGeom>
          <a:ln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583680" y="5257800"/>
            <a:ext cx="1828800" cy="640080"/>
          </a:xfrm>
          <a:prstGeom prst="roundRect">
            <a:avLst/>
          </a:prstGeom>
          <a:solidFill>
            <a:srgbClr val="F2F6F9"/>
          </a:solidFill>
          <a:ln>
            <a:solidFill>
              <a:srgbClr val="36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750"/>
                </a:solidFill>
              </a:defRPr>
            </a:pPr>
            <a:r>
              <a:t>Output</a:t>
            </a:r>
            <a:br/>
            <a:r>
              <a:t>0 atau 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12480" y="5577840"/>
            <a:ext cx="1097280" cy="0"/>
          </a:xfrm>
          <a:prstGeom prst="line">
            <a:avLst/>
          </a:prstGeom>
          <a:ln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235440" y="5257800"/>
            <a:ext cx="1828800" cy="640080"/>
          </a:xfrm>
          <a:prstGeom prst="roundRect">
            <a:avLst/>
          </a:prstGeom>
          <a:solidFill>
            <a:srgbClr val="F2F6F9"/>
          </a:solidFill>
          <a:ln>
            <a:solidFill>
              <a:srgbClr val="36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3750"/>
                </a:solidFill>
              </a:defRPr>
            </a:pPr>
            <a:r>
              <a:t>Evaluasi</a:t>
            </a:r>
            <a:br/>
            <a:r>
              <a:t>20%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</a:defRPr>
            </a:pPr>
            <a:r>
              <a:t>6. Indikator Evaluasi yang Sesuai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74920" cy="1508760"/>
          </a:xfrm>
          <a:prstGeom prst="roundRect">
            <a:avLst/>
          </a:prstGeom>
          <a:solidFill>
            <a:srgbClr val="F2F6F9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3750"/>
                </a:solidFill>
              </a:defRPr>
            </a:pPr>
            <a:r>
              <a:t>Accuracy</a:t>
            </a:r>
          </a:p>
          <a:p>
            <a:pPr>
              <a:defRPr sz="1400">
                <a:solidFill>
                  <a:srgbClr val="232A30"/>
                </a:solidFill>
              </a:defRPr>
            </a:pPr>
            <a:r>
              <a:t>Menunjukkan berapa banyak prediksi model yang benar dari seluruh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59" y="1371600"/>
            <a:ext cx="5074920" cy="1508760"/>
          </a:xfrm>
          <a:prstGeom prst="roundRect">
            <a:avLst/>
          </a:prstGeom>
          <a:solidFill>
            <a:srgbClr val="F2F6F9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3750"/>
                </a:solidFill>
              </a:defRPr>
            </a:pPr>
            <a:r>
              <a:t>Precision</a:t>
            </a:r>
          </a:p>
          <a:p>
            <a:pPr>
              <a:defRPr sz="1400">
                <a:solidFill>
                  <a:srgbClr val="232A30"/>
                </a:solidFill>
              </a:defRPr>
            </a:pPr>
            <a:r>
              <a:t>Menunjukkan ketepatan model ketika memberikan prediksi positif.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37560"/>
            <a:ext cx="5074920" cy="1508760"/>
          </a:xfrm>
          <a:prstGeom prst="roundRect">
            <a:avLst/>
          </a:prstGeom>
          <a:solidFill>
            <a:srgbClr val="F2F6F9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3750"/>
                </a:solidFill>
              </a:defRPr>
            </a:pPr>
            <a:r>
              <a:t>Recall</a:t>
            </a:r>
          </a:p>
          <a:p>
            <a:pPr>
              <a:defRPr sz="1400">
                <a:solidFill>
                  <a:srgbClr val="232A30"/>
                </a:solidFill>
              </a:defRPr>
            </a:pPr>
            <a:r>
              <a:t>Menunjukkan seberapa banyak kasus positif yang berhasil dikenali oleh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3337560"/>
            <a:ext cx="5074920" cy="1508760"/>
          </a:xfrm>
          <a:prstGeom prst="roundRect">
            <a:avLst/>
          </a:prstGeom>
          <a:solidFill>
            <a:srgbClr val="F2F6F9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3750"/>
                </a:solidFill>
              </a:defRPr>
            </a:pPr>
            <a:r>
              <a:t>F1-Score</a:t>
            </a:r>
          </a:p>
          <a:p>
            <a:pPr>
              <a:defRPr sz="1400">
                <a:solidFill>
                  <a:srgbClr val="232A30"/>
                </a:solidFill>
              </a:defRPr>
            </a:pPr>
            <a:r>
              <a:t>Menggabungkan precision dan recall sehingga dapat memberikan gambaran performa model secara lebih seimbang.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53212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737D"/>
                </a:solidFill>
              </a:defRPr>
            </a:pPr>
            <a:r>
              <a:t>Tambahan: ROC-AUC dapat digunakan untuk melihat kemampuan model membedakan dua kelas pada berbagai threshold.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</a:defRPr>
            </a:pPr>
            <a:r>
              <a:t>Kesimpulan Singkat &amp; Referensi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A30"/>
                </a:solidFill>
              </a:defRPr>
            </a:pPr>
            <a:r>
              <a:t>Dataset UCI Heart Disease dapat digunakan sebagai contoh kasus klasifikasi untuk JST.</a:t>
            </a:r>
          </a:p>
          <a:p>
            <a:pPr>
              <a:spcAft>
                <a:spcPts val="1200"/>
              </a:spcAft>
              <a:defRPr sz="1800">
                <a:solidFill>
                  <a:srgbClr val="232A30"/>
                </a:solidFill>
              </a:defRPr>
            </a:pPr>
            <a:r>
              <a:t>Fitur klinis menjadi input X, sedangkan kondisi penyakit jantung menjadi target y.</a:t>
            </a:r>
          </a:p>
          <a:p>
            <a:pPr>
              <a:spcAft>
                <a:spcPts val="1200"/>
              </a:spcAft>
              <a:defRPr sz="1800">
                <a:solidFill>
                  <a:srgbClr val="232A30"/>
                </a:solidFill>
              </a:defRPr>
            </a:pPr>
            <a:r>
              <a:t>Karena target tersedia, pendekatan yang digunakan adalah supervised learning.</a:t>
            </a:r>
          </a:p>
          <a:p>
            <a:pPr>
              <a:spcAft>
                <a:spcPts val="1200"/>
              </a:spcAft>
              <a:defRPr sz="1800">
                <a:solidFill>
                  <a:srgbClr val="232A30"/>
                </a:solidFill>
              </a:defRPr>
            </a:pPr>
            <a:r>
              <a:t>Evaluasi sebaiknya tidak hanya memakai accuracy, tetapi juga precision, recall, F1-score, dan dapat dilengkapi ROC-AUC.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7492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3750"/>
                </a:solidFill>
              </a:defRPr>
            </a:pPr>
            <a:r>
              <a:t>Referensi utama:</a:t>
            </a:r>
          </a:p>
          <a:p>
            <a:pPr>
              <a:defRPr sz="1300">
                <a:solidFill>
                  <a:srgbClr val="232A30"/>
                </a:solidFill>
              </a:defRPr>
            </a:pPr>
            <a:r>
              <a:t>UCI Machine Learning Repository, Heart Disease Dataset (Cleveland).</a:t>
            </a:r>
          </a:p>
          <a:p>
            <a:pPr>
              <a:defRPr sz="1200">
                <a:solidFill>
                  <a:srgbClr val="69737D"/>
                </a:solidFill>
              </a:defRPr>
            </a:pPr>
            <a:r>
              <a:t>Dua sumber konsep: supervised learning, train/test split, dan metrik klasifikasi.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588</Words>
  <Application>Microsoft Office PowerPoint</Application>
  <PresentationFormat>Widescreen</PresentationFormat>
  <Paragraphs>65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Aurel Adyatma</dc:creator>
  <cp:keywords/>
  <dc:description>generated using python-pptx</dc:description>
  <cp:lastModifiedBy>Aurel Adyatma</cp:lastModifiedBy>
  <cp:revision>3</cp:revision>
  <dcterms:created xsi:type="dcterms:W3CDTF">2013-01-27T09:14:16Z</dcterms:created>
  <dcterms:modified xsi:type="dcterms:W3CDTF">2026-09-20T08:19:42Z</dcterms:modified>
  <cp:category/>
</cp:coreProperties>
</file>